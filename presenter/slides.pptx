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60"/>
              </a:spcAft>
              <a:buNone/>
            </a:pP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1779E-5D64-4B69-8FED-EFF9970E32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669BF8-30B0-45A8-A943-2E5BDB750F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1pPr>
            <a:lvl2pPr lvl="1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2pPr>
            <a:lvl3pPr lvl="2" algn="l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3pPr>
            <a:lvl4pPr lvl="3" algn="l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4pPr>
            <a:lvl5pPr lvl="4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5pPr>
            <a:lvl6pPr lvl="5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6pPr>
            <a:lvl7pPr lvl="6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Third Outline Level</a:t>
            </a:r>
            <a:endParaRPr lang="en-US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Sixth Outline Level</a:t>
            </a:r>
            <a:endParaRPr lang="en-US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CA5A42-0939-470A-8839-82AA04E1CC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8" name=""/>
            <p:cNvCxnSpPr>
              <a:stCxn id="9" idx="6"/>
              <a:endCxn id="1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" name=""/>
            <p:cNvCxnSpPr>
              <a:stCxn id="12" idx="6"/>
              <a:endCxn id="1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" name=""/>
            <p:cNvCxnSpPr>
              <a:stCxn id="15" idx="6"/>
              <a:endCxn id="1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" name=""/>
            <p:cNvCxnSpPr>
              <a:stCxn id="18" idx="6"/>
              <a:endCxn id="1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0" name=""/>
            <p:cNvCxnSpPr>
              <a:stCxn id="21" idx="6"/>
              <a:endCxn id="2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" name=""/>
            <p:cNvCxnSpPr>
              <a:stCxn id="24" idx="6"/>
              <a:endCxn id="2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" name=""/>
            <p:cNvCxnSpPr>
              <a:stCxn id="27" idx="6"/>
              <a:endCxn id="2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" name=""/>
            <p:cNvCxnSpPr>
              <a:stCxn id="30" idx="6"/>
              <a:endCxn id="3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2" name=""/>
            <p:cNvCxnSpPr>
              <a:stCxn id="33" idx="6"/>
              <a:endCxn id="3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" name=""/>
            <p:cNvCxnSpPr>
              <a:stCxn id="36" idx="6"/>
              <a:endCxn id="3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" name=""/>
            <p:cNvCxnSpPr>
              <a:stCxn id="39" idx="6"/>
              <a:endCxn id="4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" name=""/>
            <p:cNvCxnSpPr>
              <a:stCxn id="42" idx="6"/>
              <a:endCxn id="4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4" name=""/>
            <p:cNvCxnSpPr>
              <a:stCxn id="45" idx="6"/>
              <a:endCxn id="4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" name=""/>
            <p:cNvCxnSpPr>
              <a:stCxn id="48" idx="6"/>
              <a:endCxn id="4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" name=""/>
            <p:cNvCxnSpPr>
              <a:stCxn id="51" idx="6"/>
              <a:endCxn id="5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" name=""/>
            <p:cNvCxnSpPr>
              <a:stCxn id="54" idx="6"/>
              <a:endCxn id="5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6" name=""/>
            <p:cNvCxnSpPr>
              <a:stCxn id="57" idx="6"/>
              <a:endCxn id="5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" name=""/>
            <p:cNvCxnSpPr>
              <a:stCxn id="60" idx="6"/>
              <a:endCxn id="6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" name=""/>
            <p:cNvCxnSpPr>
              <a:stCxn id="63" idx="6"/>
              <a:endCxn id="6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" name=""/>
            <p:cNvCxnSpPr>
              <a:stCxn id="66" idx="6"/>
              <a:endCxn id="6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8" name=""/>
            <p:cNvCxnSpPr>
              <a:stCxn id="69" idx="6"/>
              <a:endCxn id="7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" name=""/>
            <p:cNvCxnSpPr>
              <a:stCxn id="72" idx="6"/>
              <a:endCxn id="7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4" name=""/>
            <p:cNvCxnSpPr>
              <a:stCxn id="75" idx="6"/>
              <a:endCxn id="7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7" name=""/>
            <p:cNvCxnSpPr>
              <a:stCxn id="78" idx="6"/>
              <a:endCxn id="7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0" name=""/>
            <p:cNvCxnSpPr>
              <a:stCxn id="81" idx="6"/>
              <a:endCxn id="8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3" name=""/>
            <p:cNvCxnSpPr>
              <a:stCxn id="84" idx="6"/>
              <a:endCxn id="8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6" name=""/>
            <p:cNvCxnSpPr>
              <a:stCxn id="87" idx="6"/>
              <a:endCxn id="8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ncsa/llmflux-workshop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LLMFlux: Batch Processing with LLMs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2644200" y="2286000"/>
            <a:ext cx="55854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Joshua Allen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Senior Research Programmer, NCSA Genomics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10/6/2026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NCSA AI/HPC Regional Workshop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948560" y="2719440"/>
            <a:ext cx="180720" cy="23004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948560" y="2719440"/>
            <a:ext cx="180720" cy="23004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7" name="Google Shape;513;p50"/>
          <p:cNvPicPr/>
          <p:nvPr/>
        </p:nvPicPr>
        <p:blipFill>
          <a:blip r:embed="rId1"/>
          <a:srcRect l="0" t="9738" r="0" b="0"/>
          <a:stretch/>
        </p:blipFill>
        <p:spPr>
          <a:xfrm>
            <a:off x="2557440" y="5047920"/>
            <a:ext cx="3880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Google Shape;514;p50"/>
          <p:cNvSpPr/>
          <p:nvPr/>
        </p:nvSpPr>
        <p:spPr>
          <a:xfrm>
            <a:off x="2945520" y="5181120"/>
            <a:ext cx="61984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09274D"/>
                </a:solidFill>
                <a:effectLst/>
                <a:uFillTx/>
                <a:latin typeface="Source Sans Pro"/>
                <a:ea typeface="Source Sans Pro"/>
              </a:rPr>
              <a:t>NCSA</a:t>
            </a:r>
            <a:r>
              <a:rPr lang="en" sz="1000" b="0" u="none" strike="noStrike">
                <a:solidFill>
                  <a:srgbClr val="FFFFFF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en" sz="1000" b="0" u="none" strike="noStrike">
                <a:solidFill>
                  <a:srgbClr val="13294B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en" sz="1000" b="0" u="none" strike="noStrike">
                <a:solidFill>
                  <a:srgbClr val="FF5F05"/>
                </a:solidFill>
                <a:effectLst/>
                <a:uFillTx/>
                <a:latin typeface="Source Sans Pro"/>
                <a:ea typeface="Source Sans Pro"/>
              </a:rPr>
              <a:t>|</a:t>
            </a:r>
            <a:r>
              <a:rPr lang="en" sz="1000" b="0" u="none" strike="noStrike">
                <a:solidFill>
                  <a:srgbClr val="FFFFFF"/>
                </a:solidFill>
                <a:effectLst/>
                <a:uFillTx/>
                <a:latin typeface="Source Sans Pro"/>
                <a:ea typeface="Source Sans Pro"/>
              </a:rPr>
              <a:t>  </a:t>
            </a:r>
            <a:r>
              <a:rPr lang="en" sz="1000" b="1" u="none" strike="noStrike">
                <a:solidFill>
                  <a:srgbClr val="09274D"/>
                </a:solidFill>
                <a:effectLst/>
                <a:uFillTx/>
                <a:latin typeface="Source Sans Pro"/>
                <a:ea typeface="Source Sans Pro"/>
              </a:rPr>
              <a:t>ILLINOIS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0AF475-6F16-4567-8E5C-B584376509E1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286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File after File after File etc.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00200" y="1943640"/>
            <a:ext cx="5486400" cy="91440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tIns="0" rIns="0" bIns="0" anchor="t">
            <a:normAutofit/>
          </a:bodyPr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Reads data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BAMs 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Vcf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BigWig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591920" y="1491840"/>
            <a:ext cx="7086600" cy="38592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Genomics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600200" y="2743200"/>
            <a:ext cx="2971800" cy="250452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spcAft>
                <a:spcPts val="10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Financial Records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Aft>
                <a:spcPts val="10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Survey Forms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Aft>
                <a:spcPts val="10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Patient Records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Aft>
                <a:spcPts val="10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Scan Data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48000" lvl="2" indent="-216000">
              <a:spcAft>
                <a:spcPts val="10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48000" lvl="2" indent="-216000">
              <a:spcAft>
                <a:spcPts val="10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MRI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4845240" y="2971800"/>
            <a:ext cx="3384360" cy="22539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9B5054-60A6-48C4-9005-C91D8BCAB61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LLM services (at UIUC)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1620000" y="1283760"/>
            <a:ext cx="8100000" cy="397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Illinois Chat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Ask a model direct questions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Get answers with citations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LLMHub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Always on chat models that you interact with via API or a Frontend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Arbitrary models, several model styles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LLMFlux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Runs in the background, applies the same process to many inputs at once, then releases the GPU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8E303-B827-4869-ADA5-053AA5E0428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Enter Batch Processing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600200" y="1445040"/>
            <a:ext cx="8229600" cy="312696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noAutofit/>
          </a:bodyPr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ejaVu Sans Mono"/>
              </a:rPr>
              <a:t>┌─────────┐   ┌─────────┐   ┌─────────┐   ┌─────────┐   ┌─────────┐   ┌──────────┐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ejaVu Sans Mono"/>
              </a:rPr>
              <a:t>│Your data│──▶│ Prompts │──▶│ Model   │──▶│ Answers │──▶│ Checks  │──▶│ Analysis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ejaVu Sans Mono"/>
              </a:rPr>
              <a:t>│CSV, text│   │ (JSONL) │   │on a GPU │   │ (JSON)  │   │         │  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ejaVu Sans Mono"/>
              </a:rPr>
              <a:t>└─────────┘   └─────────┘   └─────────┘   └─────────┘   └─────────┘   └──────────┘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ejaVu Sans Mono"/>
              </a:rPr>
              <a:t>└──────── you ────────┘     └ LLMFlux ┘   └──────────────── you 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ejaVu Sans Mono"/>
              </a:rPr>
              <a:t>   make_prompts.py          llmflux run     show_results.py, then your usual tools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66D2A5-0A7E-408F-938D-E83648C98612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Design Interactively, Run in Batch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Set up the prompt interactively on a chat for a subset of examples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Translate the prompt to JSONL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Process 50,000 samples in one go in bulk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7A6683-57A4-49A7-AABE-7DE90DB5D98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Under the Hood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620000" y="196956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SLURM assigns GPU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Container with the software embedded starts on GPU node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Inference engine (vLLM) loads the weights in GPU memory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Each request is processed by the model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Answers written out in JSON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GPU node released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429000" y="1257120"/>
            <a:ext cx="4295520" cy="34308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login node → Slurm → GPU node →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1EE2D-3A16-4D37-B7C7-350CFDEA7A0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Why LLMFlux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All the previous can be down Manually: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Build a Slurm script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Find, build, load a container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Start an inference engine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Query the engine for updates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Set up automatic retries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Partial progress save on failure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Or you can run a single command: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`llmflux run --model Qwen2.5-7B-Instruct --input prompts.jsonl`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D28637-1EB1-4F4F-BADC-738E13739E1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How do I fine-tune the results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8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Training on labeled data and fine-tuning is an iterative and expensive process. Try these methods first: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Prompt tuning – rewrite the prompt with a couple of examples on the same data, try in a chat window first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Give the model full reference text – model input is much cheaper than model output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Change model – A larger or more specialized model may work better on your data than a smaller general purpose model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If those fail, then may want to fine tune the training: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Train a model on your own labeled examples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Requires data, separate training methods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Pass new Model into LLMFlux via a custom config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398D5D-1A5A-4C20-A05B-D5769ED2431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Results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Most of the compute time is loading the model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Once the model is loaded, it takes only minutes to process many input files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Batch submission is very efficient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8994BA-EB2C-4FC1-9BE7-53663B05B4A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Analyzing the Output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48/48 replies usable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Format Checks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Checking if it’s a valid json, requested output appears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Can be done programmatically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Correctness Checks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P09 - The method actually contains text from the abstract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P06 – Null passed as a string</a:t>
            </a:r>
            <a:endParaRPr lang="en-US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6F3FA4-B9D5-4EF0-804C-658FDD1E13B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Try it for yourself!</a:t>
            </a:r>
            <a:endParaRPr lang="en-US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46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Interactive demo: </a:t>
            </a:r>
            <a:r>
              <a:rPr lang="en-US" sz="2400" b="0" u="none" strike="noStrike">
                <a:solidFill>
                  <a:srgbClr val="050505"/>
                </a:solidFill>
                <a:effectLst/>
                <a:uFillTx/>
                <a:latin typeface="Times New Roman"/>
                <a:hlinkClick r:id="rId1"/>
              </a:rPr>
              <a:t>https://github.com/ncsa/llmflux-workshop</a:t>
            </a: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0" algn="l">
              <a:spcAft>
                <a:spcPts val="1060"/>
              </a:spcAft>
              <a:buNone/>
            </a:pPr>
            <a:endParaRPr lang="en-US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"/>
          <p:cNvPicPr/>
          <p:nvPr/>
        </p:nvPicPr>
        <p:blipFill>
          <a:blip r:embed="rId2"/>
          <a:stretch/>
        </p:blipFill>
        <p:spPr>
          <a:xfrm>
            <a:off x="3429000" y="1999440"/>
            <a:ext cx="3029760" cy="30297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40E0D6-0376-42F6-8D2E-4664C36BF826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2026-10-02T21:59:34Z</dcterms:created>
  <dc:creator/>
  <dc:description>This work is licensed under a Creative Commons 0 License.
It makes use of the works of Alexander Wilms.</dc:description>
  <dc:language>en-US</dc:language>
  <cp:lastModifiedBy/>
  <dcterms:modified xsi:type="dcterms:W3CDTF">2026-10-05T10:34:12Z</dcterms:modified>
  <cp:revision>4</cp:revision>
  <dc:subject/>
  <dc:title>DNA</dc:title>
</cp:coreProperties>
</file>